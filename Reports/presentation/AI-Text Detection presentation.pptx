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8" r:id="rId3"/>
    <p:sldId id="270" r:id="rId4"/>
    <p:sldId id="259" r:id="rId5"/>
    <p:sldId id="260" r:id="rId6"/>
    <p:sldId id="262" r:id="rId7"/>
    <p:sldId id="271" r:id="rId8"/>
    <p:sldId id="272" r:id="rId9"/>
    <p:sldId id="274" r:id="rId10"/>
    <p:sldId id="273" r:id="rId11"/>
    <p:sldId id="275" r:id="rId12"/>
    <p:sldId id="276" r:id="rId13"/>
    <p:sldId id="277" r:id="rId14"/>
    <p:sldId id="265" r:id="rId15"/>
    <p:sldId id="278" r:id="rId16"/>
    <p:sldId id="279" r:id="rId17"/>
  </p:sldIdLst>
  <p:sldSz cx="12192000" cy="6858000"/>
  <p:notesSz cx="6858000" cy="9144000"/>
  <p:embeddedFontLst>
    <p:embeddedFont>
      <p:font typeface="Urbanist" panose="020B0604020202020204" charset="0"/>
      <p:regular r:id="rId19"/>
      <p:bold r:id="rId20"/>
      <p:italic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01037C-8898-45B1-9016-FCC81CC7E495}">
  <a:tblStyle styleId="{E901037C-8898-45B1-9016-FCC81CC7E49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1B2B88A-4D41-FCA0-5A17-61BCEBFB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>
            <a:extLst>
              <a:ext uri="{FF2B5EF4-FFF2-40B4-BE49-F238E27FC236}">
                <a16:creationId xmlns:a16="http://schemas.microsoft.com/office/drawing/2014/main" id="{935FD62E-13BD-A1A6-ECDB-EC4F9BEE2B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9C26FE0-728E-E6FB-DD10-7E3A5600D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4768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E05A5528-37F3-A1EF-C3CF-78ADB220F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32A60DE8-E945-71F4-15C8-BAE3A67B8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58D04C8D-15BB-39FF-0EBA-5514D571F2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7258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1D4BB2C-886D-5DAC-1035-1BB404697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D3FD94CF-B136-A621-705D-4F2E83E6E4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362AB3BB-242B-1769-D933-94489A09F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4935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BDD4AAEF-3907-4F78-D3BD-DDD9AECE2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05ED7531-2D52-537E-5DAD-E64A2511D4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B2148CE6-37D6-3EEB-D8CE-4C3CA263A8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4147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BADA533F-795F-B7F0-2C75-B16BCF608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2E10B4A2-88FA-A643-0825-C6531996AB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466892CA-298B-0698-A62D-2137FA21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5784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118BC71D-B7F0-BB9C-A66A-676BAC9D8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899E5495-E577-0B54-B0DC-AFCE2512E4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151BAE1C-83B7-A663-DD83-B82D8CA59B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3990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9F247420-8F0D-D20A-7C4F-00A7A2B0A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82A5CEA2-C3FA-03AD-82BA-4723FA31F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A987123E-BA83-CC6F-E6B5-548FD94B5B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3158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02BDE83E-5371-8F24-774C-AF2C18D8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9D374561-7FA9-D9D6-A002-CC661F7163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62C3102C-1F05-DC35-2632-CC609C8BAF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78533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0E0D7C6-B1ED-56C4-229A-5AA45F2B5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>
            <a:extLst>
              <a:ext uri="{FF2B5EF4-FFF2-40B4-BE49-F238E27FC236}">
                <a16:creationId xmlns:a16="http://schemas.microsoft.com/office/drawing/2014/main" id="{BE02B970-AA23-1F46-31D0-90B3C16C0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>
            <a:extLst>
              <a:ext uri="{FF2B5EF4-FFF2-40B4-BE49-F238E27FC236}">
                <a16:creationId xmlns:a16="http://schemas.microsoft.com/office/drawing/2014/main" id="{8C2962C3-1F1C-8220-38AC-943B664AF7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88625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1A79D32-0AE9-3E4A-72B3-61EA6061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>
            <a:extLst>
              <a:ext uri="{FF2B5EF4-FFF2-40B4-BE49-F238E27FC236}">
                <a16:creationId xmlns:a16="http://schemas.microsoft.com/office/drawing/2014/main" id="{0AE119A4-E61E-C4DF-3205-BCCFDD303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>
            <a:extLst>
              <a:ext uri="{FF2B5EF4-FFF2-40B4-BE49-F238E27FC236}">
                <a16:creationId xmlns:a16="http://schemas.microsoft.com/office/drawing/2014/main" id="{0C50881F-8213-0090-6EC7-65190FD5D2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2075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762125"/>
            <a:ext cx="116014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AI-Text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Detection project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324225"/>
            <a:ext cx="1104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Distributed in Big Data Environments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619625"/>
            <a:ext cx="11049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by:AHMED</a:t>
            </a:r>
            <a:r>
              <a:rPr lang="en-US" sz="15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 AYESH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851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372338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Scalability</a:t>
            </a:r>
            <a:endParaRPr dirty="0"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4237732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Distributed computing via Apache Spark allows the system to scale horizontally as data volume grows from megabytes to petabytes without re-engineering the pipeline.</a:t>
            </a:r>
            <a:endParaRPr/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88518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6381750" y="372338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Low-Latency Response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381750" y="4237732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Big Data environments support stream processing, enabling real-time detection of AI content on social media feeds and API gateways with sub-second latency.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Benefits of using </a:t>
            </a:r>
            <a:r>
              <a:rPr lang="en-US" sz="36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Big Data Environment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8A6F0510-5447-EBE1-745C-EC6663D7B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>
            <a:extLst>
              <a:ext uri="{FF2B5EF4-FFF2-40B4-BE49-F238E27FC236}">
                <a16:creationId xmlns:a16="http://schemas.microsoft.com/office/drawing/2014/main" id="{6B74F198-05BF-80F5-00B2-EB076E6710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5062DB18-62FA-67A7-4160-A4C5E501C2A6}"/>
              </a:ext>
            </a:extLst>
          </p:cNvPr>
          <p:cNvSpPr txBox="1"/>
          <p:nvPr/>
        </p:nvSpPr>
        <p:spPr>
          <a:xfrm>
            <a:off x="571500" y="3723382"/>
            <a:ext cx="550068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Motivation: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146E0480-D80D-792E-DD7E-5F5665EA302B}"/>
              </a:ext>
            </a:extLst>
          </p:cNvPr>
          <p:cNvSpPr txBox="1"/>
          <p:nvPr/>
        </p:nvSpPr>
        <p:spPr>
          <a:xfrm>
            <a:off x="571500" y="4237732"/>
            <a:ext cx="5238750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proliferation of AI-generated text ( Llama, Jais) poses challenges for academic integrity, content moderation, and misinformation detection, especially in low-resource languages like Arabic, where NLP tools are less mature. Traditional single-node solutions fail to handle high-volume, high-velocity data streams.</a:t>
            </a:r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DA529C0E-4FC3-32E1-E075-31C533D5E1B2}"/>
              </a:ext>
            </a:extLst>
          </p:cNvPr>
          <p:cNvSpPr txBox="1"/>
          <p:nvPr/>
        </p:nvSpPr>
        <p:spPr>
          <a:xfrm>
            <a:off x="6381750" y="372338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Objectives</a:t>
            </a:r>
            <a:endParaRPr dirty="0"/>
          </a:p>
        </p:txBody>
      </p:sp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CE998343-6958-74B0-7D63-85A416D7E578}"/>
              </a:ext>
            </a:extLst>
          </p:cNvPr>
          <p:cNvSpPr txBox="1"/>
          <p:nvPr/>
        </p:nvSpPr>
        <p:spPr>
          <a:xfrm>
            <a:off x="6381750" y="4237732"/>
            <a:ext cx="5238750" cy="2423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1-Build an end-to-end big data pipeline (batch + streaming).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500" b="0" i="0" u="none" strike="noStrike" cap="none" dirty="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2-Compare 4 Spark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MLlib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 used models.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500" b="0" i="0" u="none" strike="noStrike" cap="none" dirty="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3-Simulate real-time inference.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500" b="0" i="0" u="none" strike="noStrike" cap="none" dirty="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4-Benchmark scalability.</a:t>
            </a:r>
            <a:endParaRPr dirty="0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2AA9556C-320B-85CB-E784-1DB7673F21E7}"/>
              </a:ext>
            </a:extLst>
          </p:cNvPr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Introduction of the project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4840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952500" y="2370832"/>
            <a:ext cx="4857750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n-US" b="1" dirty="0">
                <a:solidFill>
                  <a:schemeClr val="bg1"/>
                </a:solidFill>
              </a:rPr>
              <a:t>Source:</a:t>
            </a:r>
            <a:r>
              <a:rPr lang="en-US" dirty="0">
                <a:solidFill>
                  <a:schemeClr val="bg1"/>
                </a:solidFill>
              </a:rPr>
              <a:t> Hugging Face – KFUPM-JRCAI/</a:t>
            </a:r>
            <a:r>
              <a:rPr lang="en-US" dirty="0" err="1">
                <a:solidFill>
                  <a:schemeClr val="bg1"/>
                </a:solidFill>
              </a:rPr>
              <a:t>arabic</a:t>
            </a:r>
            <a:r>
              <a:rPr lang="en-US" dirty="0">
                <a:solidFill>
                  <a:schemeClr val="bg1"/>
                </a:solidFill>
              </a:rPr>
              <a:t>-generated-abstracts (2024).</a:t>
            </a:r>
          </a:p>
          <a:p>
            <a:pPr lvl="0" algn="just"/>
            <a:endParaRPr lang="en-US" dirty="0">
              <a:solidFill>
                <a:schemeClr val="bg1"/>
              </a:solidFill>
            </a:endParaRPr>
          </a:p>
          <a:p>
            <a:pPr lvl="0" algn="just"/>
            <a:r>
              <a:rPr lang="en-US" b="1" dirty="0">
                <a:solidFill>
                  <a:schemeClr val="bg1"/>
                </a:solidFill>
              </a:rPr>
              <a:t>Size:</a:t>
            </a:r>
            <a:r>
              <a:rPr lang="en-US" dirty="0">
                <a:solidFill>
                  <a:schemeClr val="bg1"/>
                </a:solidFill>
              </a:rPr>
              <a:t> 41,940 records after flattening.</a:t>
            </a:r>
          </a:p>
          <a:p>
            <a:pPr lvl="0" algn="just"/>
            <a:endParaRPr lang="en-US" dirty="0">
              <a:solidFill>
                <a:schemeClr val="bg1"/>
              </a:solidFill>
            </a:endParaRPr>
          </a:p>
          <a:p>
            <a:pPr lvl="0" algn="just"/>
            <a:r>
              <a:rPr lang="en-US" b="1" dirty="0">
                <a:solidFill>
                  <a:schemeClr val="bg1"/>
                </a:solidFill>
              </a:rPr>
              <a:t>Splits:</a:t>
            </a: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dirty="0" err="1">
                <a:solidFill>
                  <a:schemeClr val="bg1"/>
                </a:solidFill>
              </a:rPr>
              <a:t>by_polishing</a:t>
            </a:r>
            <a:r>
              <a:rPr lang="en-US" dirty="0">
                <a:solidFill>
                  <a:schemeClr val="bg1"/>
                </a:solidFill>
              </a:rPr>
              <a:t> (2,851), </a:t>
            </a:r>
            <a:r>
              <a:rPr lang="en-US" dirty="0" err="1">
                <a:solidFill>
                  <a:schemeClr val="bg1"/>
                </a:solidFill>
              </a:rPr>
              <a:t>from_title</a:t>
            </a:r>
            <a:r>
              <a:rPr lang="en-US" dirty="0">
                <a:solidFill>
                  <a:schemeClr val="bg1"/>
                </a:solidFill>
              </a:rPr>
              <a:t> (2,963), </a:t>
            </a:r>
            <a:r>
              <a:rPr lang="en-US" dirty="0" err="1">
                <a:solidFill>
                  <a:schemeClr val="bg1"/>
                </a:solidFill>
              </a:rPr>
              <a:t>from_title_and_content</a:t>
            </a:r>
            <a:r>
              <a:rPr lang="en-US" dirty="0">
                <a:solidFill>
                  <a:schemeClr val="bg1"/>
                </a:solidFill>
              </a:rPr>
              <a:t> (2,574) – each containing an original human abstract and four LLM-generated versions (Allam, Jais, Llama, OpenAI).</a:t>
            </a:r>
          </a:p>
          <a:p>
            <a:pPr lvl="0" algn="just"/>
            <a:endParaRPr lang="en-US" dirty="0">
              <a:solidFill>
                <a:schemeClr val="bg1"/>
              </a:solidFill>
            </a:endParaRPr>
          </a:p>
          <a:p>
            <a:pPr lvl="0" algn="just"/>
            <a:r>
              <a:rPr lang="en-US" b="1" dirty="0">
                <a:solidFill>
                  <a:schemeClr val="bg1"/>
                </a:solidFill>
              </a:rPr>
              <a:t>Class Distribution:</a:t>
            </a:r>
            <a:r>
              <a:rPr lang="en-US" dirty="0">
                <a:solidFill>
                  <a:schemeClr val="bg1"/>
                </a:solidFill>
              </a:rPr>
              <a:t> Perfectly balanced (20% Human, 80% AI across four generators). After preprocessing and deduplication: 36,525 rows.</a:t>
            </a:r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Dataset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/>
        </p:nvSpPr>
        <p:spPr>
          <a:xfrm>
            <a:off x="571500" y="950862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Preprocessing </a:t>
            </a:r>
            <a:endParaRPr dirty="0"/>
          </a:p>
        </p:txBody>
      </p:sp>
      <p:sp>
        <p:nvSpPr>
          <p:cNvPr id="128" name="Google Shape;128;p17"/>
          <p:cNvSpPr txBox="1"/>
          <p:nvPr/>
        </p:nvSpPr>
        <p:spPr>
          <a:xfrm>
            <a:off x="571499" y="2304232"/>
            <a:ext cx="739262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	Diacritic removal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	Hamza/alef/</a:t>
            </a:r>
            <a:r>
              <a:rPr lang="en-US" sz="20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yaa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/</a:t>
            </a:r>
            <a:r>
              <a:rPr lang="en-US" sz="20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taa-marbuta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normalization.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	Stopword removal using NLTK Arabic </a:t>
            </a:r>
            <a:r>
              <a:rPr lang="en-US" sz="20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stopwords</a:t>
            </a:r>
            <a:endParaRPr lang="en-US" sz="2000" b="0" i="0" u="none" strike="noStrike" cap="none" dirty="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	ISRI light stemming using NLTK.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	Result: tokenized, normalized Arabic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796413" y="2239490"/>
            <a:ext cx="5800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Distributed Data Pipeline</a:t>
            </a:r>
            <a:endParaRPr dirty="0"/>
          </a:p>
        </p:txBody>
      </p:sp>
      <p:sp>
        <p:nvSpPr>
          <p:cNvPr id="148" name="Google Shape;148;p19"/>
          <p:cNvSpPr txBox="1"/>
          <p:nvPr/>
        </p:nvSpPr>
        <p:spPr>
          <a:xfrm>
            <a:off x="689487" y="3312576"/>
            <a:ext cx="10401300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lang="en-US" sz="20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Platform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: CentOS VM, Spark 4.0.2 local mode , 4GB driver.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lang="en-US" sz="20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 Loading: 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Hugging Face datasets then using Pandas then flatten then save data as a Parquet </a:t>
            </a:r>
            <a:r>
              <a:rPr lang="en-US" sz="20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format,this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format reduce the size of data.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•Preprocessing: 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Spark UDFs for Arabic cleaning (diacritic removal, normalization, </a:t>
            </a:r>
            <a:r>
              <a:rPr lang="en-US" sz="20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stopwords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stemming).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•Storage: Partitioned Parquet by label (data/processed/).</a:t>
            </a:r>
          </a:p>
        </p:txBody>
      </p:sp>
      <p:sp>
        <p:nvSpPr>
          <p:cNvPr id="149" name="Google Shape;149;p19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Methodology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188B0CDA-A75C-16A4-B737-EF65B25E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 descr="image.png">
            <a:extLst>
              <a:ext uri="{FF2B5EF4-FFF2-40B4-BE49-F238E27FC236}">
                <a16:creationId xmlns:a16="http://schemas.microsoft.com/office/drawing/2014/main" id="{7F96EEF2-BB71-B195-01A2-98895279B6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>
            <a:extLst>
              <a:ext uri="{FF2B5EF4-FFF2-40B4-BE49-F238E27FC236}">
                <a16:creationId xmlns:a16="http://schemas.microsoft.com/office/drawing/2014/main" id="{8D9379CD-B4C2-FCF5-B994-FE90E084FFF3}"/>
              </a:ext>
            </a:extLst>
          </p:cNvPr>
          <p:cNvSpPr txBox="1"/>
          <p:nvPr/>
        </p:nvSpPr>
        <p:spPr>
          <a:xfrm>
            <a:off x="796413" y="2239490"/>
            <a:ext cx="5800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Feature Engineering</a:t>
            </a:r>
            <a:endParaRPr dirty="0"/>
          </a:p>
        </p:txBody>
      </p:sp>
      <p:sp>
        <p:nvSpPr>
          <p:cNvPr id="148" name="Google Shape;148;p19">
            <a:extLst>
              <a:ext uri="{FF2B5EF4-FFF2-40B4-BE49-F238E27FC236}">
                <a16:creationId xmlns:a16="http://schemas.microsoft.com/office/drawing/2014/main" id="{651E907A-7C5E-9E78-F13B-0F17E8D0FAA4}"/>
              </a:ext>
            </a:extLst>
          </p:cNvPr>
          <p:cNvSpPr txBox="1"/>
          <p:nvPr/>
        </p:nvSpPr>
        <p:spPr>
          <a:xfrm>
            <a:off x="689487" y="3312576"/>
            <a:ext cx="104013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•f2_letters_ratio = letters / total characters.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•f21_brunet_w =type-token complexity.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•TF-IDF: Tokenizer using  </a:t>
            </a:r>
            <a:r>
              <a:rPr lang="en-US" sz="20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HashingTF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(10,000 features) then IDF.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C45D873-0C2F-A624-79A6-A8A057216FDD}"/>
              </a:ext>
            </a:extLst>
          </p:cNvPr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Methodology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7449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DE6E637E-27CA-7A78-1619-3C1BA981B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 descr="image.png">
            <a:extLst>
              <a:ext uri="{FF2B5EF4-FFF2-40B4-BE49-F238E27FC236}">
                <a16:creationId xmlns:a16="http://schemas.microsoft.com/office/drawing/2014/main" id="{855B000B-6FC9-1CA8-B57F-8E674CCF3A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>
            <a:extLst>
              <a:ext uri="{FF2B5EF4-FFF2-40B4-BE49-F238E27FC236}">
                <a16:creationId xmlns:a16="http://schemas.microsoft.com/office/drawing/2014/main" id="{E7584FC6-AFAE-E48F-8F21-0494F0B96958}"/>
              </a:ext>
            </a:extLst>
          </p:cNvPr>
          <p:cNvSpPr txBox="1"/>
          <p:nvPr/>
        </p:nvSpPr>
        <p:spPr>
          <a:xfrm>
            <a:off x="796413" y="2239490"/>
            <a:ext cx="58007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Spark </a:t>
            </a:r>
            <a:r>
              <a:rPr lang="en-US" sz="2100" b="0" i="0" u="none" strike="noStrike" cap="none" dirty="0" err="1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MLlib</a:t>
            </a:r>
            <a:r>
              <a:rPr lang="en-US" sz="2100" b="0" i="0" u="none" strike="noStrike" cap="none" dirty="0">
                <a:solidFill>
                  <a:srgbClr val="10B98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Models </a:t>
            </a:r>
            <a:endParaRPr dirty="0"/>
          </a:p>
        </p:txBody>
      </p:sp>
      <p:sp>
        <p:nvSpPr>
          <p:cNvPr id="148" name="Google Shape;148;p19">
            <a:extLst>
              <a:ext uri="{FF2B5EF4-FFF2-40B4-BE49-F238E27FC236}">
                <a16:creationId xmlns:a16="http://schemas.microsoft.com/office/drawing/2014/main" id="{09A6A68A-5263-08F7-38B3-84AFDF10FA26}"/>
              </a:ext>
            </a:extLst>
          </p:cNvPr>
          <p:cNvSpPr txBox="1"/>
          <p:nvPr/>
        </p:nvSpPr>
        <p:spPr>
          <a:xfrm>
            <a:off x="689487" y="3312576"/>
            <a:ext cx="104013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•Logistic Regression (</a:t>
            </a:r>
            <a:r>
              <a:rPr lang="en-US" sz="20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maxIter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=50, </a:t>
            </a:r>
            <a:r>
              <a:rPr lang="en-US" sz="20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regParam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=0.01)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•Random Forest (100 trees, </a:t>
            </a:r>
            <a:r>
              <a:rPr lang="en-US" sz="20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maxDepth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=10)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•Linear SVM (</a:t>
            </a:r>
            <a:r>
              <a:rPr lang="en-US" sz="20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maxIter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=50)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•Gradient Boosted Trees (</a:t>
            </a:r>
            <a:r>
              <a:rPr lang="en-US" sz="20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maxIter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=50, </a:t>
            </a:r>
            <a:r>
              <a:rPr lang="en-US" sz="200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maxDepth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=8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D1E5446-363B-59FF-ABC7-C9F921DE84A8}"/>
              </a:ext>
            </a:extLst>
          </p:cNvPr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Methodology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211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8E67E90F-E8C2-CDDD-54B0-EB56B8427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21F5AF1-6919-CCB4-26DB-E82D7C6AD40F}"/>
              </a:ext>
            </a:extLst>
          </p:cNvPr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Results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5E55D7-48F9-C602-C67E-7389F76D4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130820"/>
              </p:ext>
            </p:extLst>
          </p:nvPr>
        </p:nvGraphicFramePr>
        <p:xfrm>
          <a:off x="1882877" y="2603786"/>
          <a:ext cx="8229601" cy="2825115"/>
        </p:xfrm>
        <a:graphic>
          <a:graphicData uri="http://schemas.openxmlformats.org/drawingml/2006/table">
            <a:tbl>
              <a:tblPr firstRow="1" firstCol="1" bandRow="1">
                <a:tableStyleId>{E901037C-8898-45B1-9016-FCC81CC7E495}</a:tableStyleId>
              </a:tblPr>
              <a:tblGrid>
                <a:gridCol w="1252330">
                  <a:extLst>
                    <a:ext uri="{9D8B030D-6E8A-4147-A177-3AD203B41FA5}">
                      <a16:colId xmlns:a16="http://schemas.microsoft.com/office/drawing/2014/main" val="3505506712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2596868175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1688756208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1515454442"/>
                    </a:ext>
                  </a:extLst>
                </a:gridCol>
              </a:tblGrid>
              <a:tr h="419037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Model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Accuracy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F1-Score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AUC-ROC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686442255"/>
                  </a:ext>
                </a:extLst>
              </a:tr>
              <a:tr h="660337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Logistic Regression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0.9538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0.9500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0.9660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823605826"/>
                  </a:ext>
                </a:extLst>
              </a:tr>
              <a:tr h="660337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Gradient Boosted Trees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0.9491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0.9431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0.9585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605517977"/>
                  </a:ext>
                </a:extLst>
              </a:tr>
              <a:tr h="419037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Linear SVM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0.9410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0.9428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0.9486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134036123"/>
                  </a:ext>
                </a:extLst>
              </a:tr>
              <a:tr h="419037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Random Forest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0.9207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0.8828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0.9682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7521838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94916A3-5A6D-DB36-1DFD-9B8684517B5D}"/>
              </a:ext>
            </a:extLst>
          </p:cNvPr>
          <p:cNvSpPr txBox="1"/>
          <p:nvPr/>
        </p:nvSpPr>
        <p:spPr>
          <a:xfrm>
            <a:off x="571500" y="1687166"/>
            <a:ext cx="8868697" cy="732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rgbClr val="94A3B8"/>
                </a:solidFill>
                <a:latin typeface="Urbanist"/>
                <a:ea typeface="Urbanist"/>
                <a:cs typeface="Urbanist"/>
              </a:rPr>
              <a:t>Logistic Regression is the best overall (highest accuracy &amp; F1). Random Forest has highest AUC but lower F1 due to bias.</a:t>
            </a:r>
          </a:p>
        </p:txBody>
      </p:sp>
    </p:spTree>
    <p:extLst>
      <p:ext uri="{BB962C8B-B14F-4D97-AF65-F5344CB8AC3E}">
        <p14:creationId xmlns:p14="http://schemas.microsoft.com/office/powerpoint/2010/main" val="3686394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FD9BE68E-441A-99AE-41B1-F8D9C7142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 descr="image.png">
            <a:extLst>
              <a:ext uri="{FF2B5EF4-FFF2-40B4-BE49-F238E27FC236}">
                <a16:creationId xmlns:a16="http://schemas.microsoft.com/office/drawing/2014/main" id="{942563AA-043F-EBD9-6DE7-92BD8B5D61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>
            <a:extLst>
              <a:ext uri="{FF2B5EF4-FFF2-40B4-BE49-F238E27FC236}">
                <a16:creationId xmlns:a16="http://schemas.microsoft.com/office/drawing/2014/main" id="{5FE30D50-0A3B-CB29-A5B9-70AD85C4667E}"/>
              </a:ext>
            </a:extLst>
          </p:cNvPr>
          <p:cNvSpPr txBox="1"/>
          <p:nvPr/>
        </p:nvSpPr>
        <p:spPr>
          <a:xfrm>
            <a:off x="689487" y="3312576"/>
            <a:ext cx="104013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lang="en-US" sz="20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Simulation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: 5 JSON files (batch_000.json … batch_004.json) written to streaming/inbox.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lang="en-US" sz="20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Structured Streaming: 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Read Stream  then apply same feature UDFs then load saved TF-IDF pipeline &amp; Random Forest model then write Stream to Parquet (append mode, 5 sec trigger).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lang="en-US" sz="2000" b="1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Metrics</a:t>
            </a:r>
            <a:r>
              <a:rPr lang="en-US" sz="20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: 50 predictions, live accuracy = 74%.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E29067D-AC7A-7802-7C06-B19F95C868C7}"/>
              </a:ext>
            </a:extLst>
          </p:cNvPr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Stream Processing Implementation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5642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5A635CF0-BADA-D78F-CFA4-9379F688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 descr="image.png">
            <a:extLst>
              <a:ext uri="{FF2B5EF4-FFF2-40B4-BE49-F238E27FC236}">
                <a16:creationId xmlns:a16="http://schemas.microsoft.com/office/drawing/2014/main" id="{FC5D3117-7599-7D52-D776-59B4AE482D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16099B8-7DC5-7D97-D837-57C591AD506E}"/>
              </a:ext>
            </a:extLst>
          </p:cNvPr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Scalability Benchmark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21F695-1FCD-5F23-D3A7-22261343A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703249"/>
              </p:ext>
            </p:extLst>
          </p:nvPr>
        </p:nvGraphicFramePr>
        <p:xfrm>
          <a:off x="1271197" y="2252488"/>
          <a:ext cx="1862455" cy="2101215"/>
        </p:xfrm>
        <a:graphic>
          <a:graphicData uri="http://schemas.openxmlformats.org/drawingml/2006/table">
            <a:tbl>
              <a:tblPr firstRow="1" firstCol="1" bandRow="1">
                <a:tableStyleId>{E901037C-8898-45B1-9016-FCC81CC7E495}</a:tableStyleId>
              </a:tblPr>
              <a:tblGrid>
                <a:gridCol w="931228">
                  <a:extLst>
                    <a:ext uri="{9D8B030D-6E8A-4147-A177-3AD203B41FA5}">
                      <a16:colId xmlns:a16="http://schemas.microsoft.com/office/drawing/2014/main" val="254114377"/>
                    </a:ext>
                  </a:extLst>
                </a:gridCol>
                <a:gridCol w="931227">
                  <a:extLst>
                    <a:ext uri="{9D8B030D-6E8A-4147-A177-3AD203B41FA5}">
                      <a16:colId xmlns:a16="http://schemas.microsoft.com/office/drawing/2014/main" val="3990416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Partitions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Time (s)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2871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3.66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880799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2.79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662124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2.65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577089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32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2.88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5686270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31669DE-239C-D90F-0EA9-4EABCD795D3F}"/>
              </a:ext>
            </a:extLst>
          </p:cNvPr>
          <p:cNvSpPr txBox="1"/>
          <p:nvPr/>
        </p:nvSpPr>
        <p:spPr>
          <a:xfrm>
            <a:off x="571500" y="5072564"/>
            <a:ext cx="6174658" cy="1066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Speedup up to 16 partitions (≈28% faster than 4). At 32 partitions, overhead increases. Near-linear scaling in local mode.</a:t>
            </a:r>
            <a:endParaRPr lang="en-US" sz="20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39E5F-F767-2152-2F38-DFBD546C57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787" y="1801637"/>
            <a:ext cx="5274310" cy="30029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0496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A7190007-A86C-E15C-72B5-62117969D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 descr="image.png">
            <a:extLst>
              <a:ext uri="{FF2B5EF4-FFF2-40B4-BE49-F238E27FC236}">
                <a16:creationId xmlns:a16="http://schemas.microsoft.com/office/drawing/2014/main" id="{A7BE0065-0F41-352C-37A2-6A71D182F2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F0F4101-A495-DFF1-DD3C-B732A3BB2A4F}"/>
              </a:ext>
            </a:extLst>
          </p:cNvPr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Batch vs. Stream Performance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963B1C-BF91-6645-993B-B3EBA7BEBC0C}"/>
              </a:ext>
            </a:extLst>
          </p:cNvPr>
          <p:cNvGraphicFramePr>
            <a:graphicFrameLocks noGrp="1"/>
          </p:cNvGraphicFramePr>
          <p:nvPr/>
        </p:nvGraphicFramePr>
        <p:xfrm>
          <a:off x="1411922" y="2815589"/>
          <a:ext cx="6320155" cy="2101215"/>
        </p:xfrm>
        <a:graphic>
          <a:graphicData uri="http://schemas.openxmlformats.org/drawingml/2006/table">
            <a:tbl>
              <a:tblPr firstRow="1" firstCol="1" bandRow="1">
                <a:tableStyleId>{E901037C-8898-45B1-9016-FCC81CC7E495}</a:tableStyleId>
              </a:tblPr>
              <a:tblGrid>
                <a:gridCol w="1588770">
                  <a:extLst>
                    <a:ext uri="{9D8B030D-6E8A-4147-A177-3AD203B41FA5}">
                      <a16:colId xmlns:a16="http://schemas.microsoft.com/office/drawing/2014/main" val="1813026764"/>
                    </a:ext>
                  </a:extLst>
                </a:gridCol>
                <a:gridCol w="1965325">
                  <a:extLst>
                    <a:ext uri="{9D8B030D-6E8A-4147-A177-3AD203B41FA5}">
                      <a16:colId xmlns:a16="http://schemas.microsoft.com/office/drawing/2014/main" val="2244345245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295700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Aspect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Batch (Test)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Stream (Live)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013570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Accuracy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95.38% (LR)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74.00% (RF)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147755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Latency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N/A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~5 sec microbatch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638480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Throughput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5,476 rows (one pass)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50 rows (simulated)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107037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Model used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LR (best)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RF (loaded from disk)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74281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440CE2-6D91-7F1D-6AAB-AB5BAC41AC41}"/>
              </a:ext>
            </a:extLst>
          </p:cNvPr>
          <p:cNvSpPr txBox="1"/>
          <p:nvPr/>
        </p:nvSpPr>
        <p:spPr>
          <a:xfrm>
            <a:off x="880980" y="5053682"/>
            <a:ext cx="1063259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Streaming accuracy lower due to smaller sample size and different temporal distribution. In production, use the best batch model (LR) for streaming and increase window size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92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3">
          <a:extLst>
            <a:ext uri="{FF2B5EF4-FFF2-40B4-BE49-F238E27FC236}">
              <a16:creationId xmlns:a16="http://schemas.microsoft.com/office/drawing/2014/main" id="{CFFA3FE3-0A8B-DBF7-63A8-D2823CFB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 descr="image.png">
            <a:extLst>
              <a:ext uri="{FF2B5EF4-FFF2-40B4-BE49-F238E27FC236}">
                <a16:creationId xmlns:a16="http://schemas.microsoft.com/office/drawing/2014/main" id="{56B01497-29D4-367F-D62C-9D3D6DD523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71F90F0-F27E-EC64-FE7A-2B8AA5A081E4}"/>
              </a:ext>
            </a:extLst>
          </p:cNvPr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Feature Importance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6478EA-4D5C-8C62-1D63-146C379B5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810360"/>
              </p:ext>
            </p:extLst>
          </p:nvPr>
        </p:nvGraphicFramePr>
        <p:xfrm>
          <a:off x="1027472" y="3195297"/>
          <a:ext cx="5245510" cy="1260729"/>
        </p:xfrm>
        <a:graphic>
          <a:graphicData uri="http://schemas.openxmlformats.org/drawingml/2006/table">
            <a:tbl>
              <a:tblPr firstRow="1" firstCol="1" bandRow="1">
                <a:tableStyleId>{E901037C-8898-45B1-9016-FCC81CC7E495}</a:tableStyleId>
              </a:tblPr>
              <a:tblGrid>
                <a:gridCol w="1548580">
                  <a:extLst>
                    <a:ext uri="{9D8B030D-6E8A-4147-A177-3AD203B41FA5}">
                      <a16:colId xmlns:a16="http://schemas.microsoft.com/office/drawing/2014/main" val="3785793373"/>
                    </a:ext>
                  </a:extLst>
                </a:gridCol>
                <a:gridCol w="1602658">
                  <a:extLst>
                    <a:ext uri="{9D8B030D-6E8A-4147-A177-3AD203B41FA5}">
                      <a16:colId xmlns:a16="http://schemas.microsoft.com/office/drawing/2014/main" val="1323984248"/>
                    </a:ext>
                  </a:extLst>
                </a:gridCol>
                <a:gridCol w="2094272">
                  <a:extLst>
                    <a:ext uri="{9D8B030D-6E8A-4147-A177-3AD203B41FA5}">
                      <a16:colId xmlns:a16="http://schemas.microsoft.com/office/drawing/2014/main" val="265184559"/>
                    </a:ext>
                  </a:extLst>
                </a:gridCol>
              </a:tblGrid>
              <a:tr h="400516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Feature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Type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Importance Score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031784886"/>
                  </a:ext>
                </a:extLst>
              </a:tr>
              <a:tr h="400516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f002_letters_ratio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Stylometric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&lt; 0.0001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791736171"/>
                  </a:ext>
                </a:extLst>
              </a:tr>
              <a:tr h="400516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f021_brunet_w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Stylometric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&lt; 0.0001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60404314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93DC2C3-DAA7-2399-F540-E945C0D13C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336" y="2549893"/>
            <a:ext cx="5274310" cy="33572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2597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334E29-6B9E-05E5-C455-DF093FFA4075}"/>
              </a:ext>
            </a:extLst>
          </p:cNvPr>
          <p:cNvSpPr txBox="1"/>
          <p:nvPr/>
        </p:nvSpPr>
        <p:spPr>
          <a:xfrm>
            <a:off x="571500" y="2112709"/>
            <a:ext cx="1061761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Summary: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Spark-based pipeline successfully classifies AI-generated Arabic abstracts with </a:t>
            </a:r>
            <a:r>
              <a:rPr lang="en-US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&gt;95% accuracy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 Regression outperforms tree-based models despite smaller feature space.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Stylometric features contribute little; TF-IDF is the dominant signal.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Structured Streaming enables real-time inference with acceptable accuracy (74% on small sample).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Scalability improves up to 16 partitions on a single VM.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F63D09D4-0D01-CE4C-288E-9B005B3A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2" descr="image.png">
            <a:extLst>
              <a:ext uri="{FF2B5EF4-FFF2-40B4-BE49-F238E27FC236}">
                <a16:creationId xmlns:a16="http://schemas.microsoft.com/office/drawing/2014/main" id="{F8B30F0A-107B-8D98-3CB0-B467966D06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>
            <a:extLst>
              <a:ext uri="{FF2B5EF4-FFF2-40B4-BE49-F238E27FC236}">
                <a16:creationId xmlns:a16="http://schemas.microsoft.com/office/drawing/2014/main" id="{7F8465A3-835F-D0C5-15E5-7C4F1CFEE764}"/>
              </a:ext>
            </a:extLst>
          </p:cNvPr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35582-F807-FDAE-36A0-D1C943D33820}"/>
              </a:ext>
            </a:extLst>
          </p:cNvPr>
          <p:cNvSpPr txBox="1"/>
          <p:nvPr/>
        </p:nvSpPr>
        <p:spPr>
          <a:xfrm>
            <a:off x="571500" y="2112709"/>
            <a:ext cx="100080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Limitations:</a:t>
            </a:r>
            <a:endParaRPr lang="en-US" sz="2000" dirty="0">
              <a:solidFill>
                <a:schemeClr val="bg1"/>
              </a:solidFill>
            </a:endParaRPr>
          </a:p>
          <a:p>
            <a:pPr lvl="0"/>
            <a:r>
              <a:rPr lang="en-US" sz="2000" dirty="0">
                <a:solidFill>
                  <a:schemeClr val="bg1"/>
                </a:solidFill>
              </a:rPr>
              <a:t>Local mode only – not distributed across a cluster.</a:t>
            </a:r>
          </a:p>
          <a:p>
            <a:pPr lvl="0"/>
            <a:r>
              <a:rPr lang="en-US" sz="2000" dirty="0">
                <a:solidFill>
                  <a:schemeClr val="bg1"/>
                </a:solidFill>
              </a:rPr>
              <a:t>Streaming test set is small (50 samples) – not statistically robust.</a:t>
            </a:r>
          </a:p>
          <a:p>
            <a:pPr lvl="0"/>
            <a:r>
              <a:rPr lang="en-US" sz="2000" dirty="0">
                <a:solidFill>
                  <a:schemeClr val="bg1"/>
                </a:solidFill>
              </a:rPr>
              <a:t>TF-IDF fixed at 10,000 features may not capture all morphological richness of Arabic.</a:t>
            </a:r>
          </a:p>
        </p:txBody>
      </p:sp>
    </p:spTree>
    <p:extLst>
      <p:ext uri="{BB962C8B-B14F-4D97-AF65-F5344CB8AC3E}">
        <p14:creationId xmlns:p14="http://schemas.microsoft.com/office/powerpoint/2010/main" val="77833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B294BAA3-81E9-F23A-73F4-693AA076B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2" descr="image.png">
            <a:extLst>
              <a:ext uri="{FF2B5EF4-FFF2-40B4-BE49-F238E27FC236}">
                <a16:creationId xmlns:a16="http://schemas.microsoft.com/office/drawing/2014/main" id="{164E817D-4C0C-0C17-2BFF-90CEB9CF87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>
            <a:extLst>
              <a:ext uri="{FF2B5EF4-FFF2-40B4-BE49-F238E27FC236}">
                <a16:creationId xmlns:a16="http://schemas.microsoft.com/office/drawing/2014/main" id="{54E92B60-53F4-7207-F85D-9549F0DB40C6}"/>
              </a:ext>
            </a:extLst>
          </p:cNvPr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D75A0C-019D-7B53-B05C-F2845E94E4AF}"/>
              </a:ext>
            </a:extLst>
          </p:cNvPr>
          <p:cNvSpPr txBox="1"/>
          <p:nvPr/>
        </p:nvSpPr>
        <p:spPr>
          <a:xfrm>
            <a:off x="571500" y="2112709"/>
            <a:ext cx="105487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Future Work: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</a:rPr>
              <a:t>Deploy on multi-node cluster (AWS EMR, Databricks) with YARN or Kubernetes.</a:t>
            </a:r>
          </a:p>
          <a:p>
            <a:pPr lvl="0"/>
            <a:r>
              <a:rPr lang="en-US" sz="2000" dirty="0">
                <a:solidFill>
                  <a:schemeClr val="bg1"/>
                </a:solidFill>
              </a:rPr>
              <a:t>Replace TF-IDF with Arabic BERT embeddings (AraBERT, MARBERT) using Spark NLP.</a:t>
            </a:r>
          </a:p>
          <a:p>
            <a:pPr lvl="0"/>
            <a:r>
              <a:rPr lang="en-US" sz="2000" dirty="0">
                <a:solidFill>
                  <a:schemeClr val="bg1"/>
                </a:solidFill>
              </a:rPr>
              <a:t>Use Kappa architecture (pure streaming) with Kafka as source.</a:t>
            </a:r>
          </a:p>
          <a:p>
            <a:pPr lvl="0"/>
            <a:r>
              <a:rPr lang="en-US" sz="2000" dirty="0">
                <a:solidFill>
                  <a:schemeClr val="bg1"/>
                </a:solidFill>
              </a:rPr>
              <a:t>Implement online learning (Spark Streaming + mini-batch model updates).</a:t>
            </a:r>
          </a:p>
          <a:p>
            <a:pPr lvl="0"/>
            <a:r>
              <a:rPr lang="en-US" sz="2000" dirty="0">
                <a:solidFill>
                  <a:schemeClr val="bg1"/>
                </a:solidFill>
              </a:rPr>
              <a:t>Add more stylometric features (Yule’s K, entropy, POS tagging).</a:t>
            </a:r>
          </a:p>
        </p:txBody>
      </p:sp>
    </p:spTree>
    <p:extLst>
      <p:ext uri="{BB962C8B-B14F-4D97-AF65-F5344CB8AC3E}">
        <p14:creationId xmlns:p14="http://schemas.microsoft.com/office/powerpoint/2010/main" val="3716611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</Words>
  <Application>Microsoft Office PowerPoint</Application>
  <PresentationFormat>Widescreen</PresentationFormat>
  <Paragraphs>134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Calibri</vt:lpstr>
      <vt:lpstr>Aptos</vt:lpstr>
      <vt:lpstr>Symbol</vt:lpstr>
      <vt:lpstr>Arial</vt:lpstr>
      <vt:lpstr>Urbanist</vt:lpstr>
      <vt:lpstr>Urbanist Medium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Maryam Gaber</cp:lastModifiedBy>
  <cp:revision>1</cp:revision>
  <dcterms:modified xsi:type="dcterms:W3CDTF">2026-05-19T14:17:21Z</dcterms:modified>
</cp:coreProperties>
</file>